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66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280A21-17F2-405E-81CB-5BB93D210835}" v="3" dt="2026-07-16T13:10:12.059"/>
    <p1510:client id="{83EB7453-CC41-41E2-A124-C2C7DA53ADBC}" v="16" dt="2026-07-16T06:22:08.24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72" y="27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4291" y="2606039"/>
            <a:ext cx="2759710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6314" y="1330226"/>
            <a:ext cx="9877203" cy="1835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48617" y="1622047"/>
            <a:ext cx="8724900" cy="1543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xfrm>
            <a:off x="152400" y="1642670"/>
            <a:ext cx="10363200" cy="1612979"/>
          </a:xfrm>
          <a:prstGeom prst="rect">
            <a:avLst/>
          </a:prstGeom>
        </p:spPr>
        <p:txBody>
          <a:bodyPr vert="horz" wrap="square" lIns="0" tIns="304520" rIns="0" bIns="0" rtlCol="0">
            <a:spAutoFit/>
          </a:bodyPr>
          <a:lstStyle/>
          <a:p>
            <a:pPr marL="1164590" marR="5080" indent="926465" algn="ctr">
              <a:spcBef>
                <a:spcPts val="100"/>
              </a:spcBef>
            </a:pPr>
            <a:r>
              <a:rPr lang="en-US" sz="2800" dirty="0"/>
              <a:t>COMPARISON OF STRONG AND WEAK ENTITIES IN ER MODELING</a:t>
            </a:r>
          </a:p>
          <a:p>
            <a:pPr marL="1164590" marR="5080" indent="926465" algn="ctr">
              <a:lnSpc>
                <a:spcPct val="100000"/>
              </a:lnSpc>
              <a:spcBef>
                <a:spcPts val="100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7192" y="5216903"/>
            <a:ext cx="8304530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22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lang="en-IN" sz="2400" dirty="0">
                <a:solidFill>
                  <a:srgbClr val="FF0000"/>
                </a:solidFill>
                <a:latin typeface="Arial MT"/>
                <a:cs typeface="Arial MT"/>
              </a:rPr>
              <a:t>Tech</a:t>
            </a:r>
            <a:r>
              <a:rPr sz="2400" dirty="0" err="1">
                <a:solidFill>
                  <a:srgbClr val="FF0000"/>
                </a:solidFill>
                <a:latin typeface="Arial MT"/>
                <a:cs typeface="Arial MT"/>
              </a:rPr>
              <a:t>nical</a:t>
            </a:r>
            <a:r>
              <a:rPr sz="2400" spc="-1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Presentation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65365"/>
            <a:ext cx="11277599" cy="9062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DAE58F-105A-3E9B-68FA-642F4C5D25BD}"/>
              </a:ext>
            </a:extLst>
          </p:cNvPr>
          <p:cNvSpPr txBox="1"/>
          <p:nvPr/>
        </p:nvSpPr>
        <p:spPr>
          <a:xfrm>
            <a:off x="7467600" y="3774611"/>
            <a:ext cx="5034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 : HEMANTH R </a:t>
            </a:r>
          </a:p>
          <a:p>
            <a:r>
              <a:rPr lang="en-IN" dirty="0"/>
              <a:t>REG NO: 1925212327</a:t>
            </a:r>
          </a:p>
          <a:p>
            <a:r>
              <a:rPr lang="en-IN" dirty="0"/>
              <a:t>COURSE : DATABASE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48200" y="1534186"/>
            <a:ext cx="30676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Introduction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44501" y="2509418"/>
            <a:ext cx="11747499" cy="33752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b="1" dirty="0"/>
              <a:t>Entity-Relationship (ER) </a:t>
            </a:r>
            <a:r>
              <a:rPr lang="en-IN" sz="2400" b="1" dirty="0" err="1"/>
              <a:t>modeling</a:t>
            </a:r>
            <a:r>
              <a:rPr lang="en-IN" sz="2400" dirty="0"/>
              <a:t> is used to design and represent the structure of a database. </a:t>
            </a:r>
            <a:r>
              <a:rPr lang="en-IN" sz="2400" b="1" dirty="0"/>
              <a:t>Entities</a:t>
            </a:r>
            <a:r>
              <a:rPr lang="en-IN" sz="2400" dirty="0"/>
              <a:t> are real-world objects or concepts, such as a Student, Employee, or Course.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dirty="0"/>
              <a:t> ER </a:t>
            </a:r>
            <a:r>
              <a:rPr lang="en-IN" sz="2400" dirty="0" err="1"/>
              <a:t>modeling</a:t>
            </a:r>
            <a:r>
              <a:rPr lang="en-IN" sz="2400" dirty="0"/>
              <a:t> classifies entities into </a:t>
            </a:r>
            <a:r>
              <a:rPr lang="en-IN" sz="2400" b="1" dirty="0"/>
              <a:t>Strong Entities</a:t>
            </a:r>
            <a:r>
              <a:rPr lang="en-IN" sz="2400" dirty="0"/>
              <a:t> and </a:t>
            </a:r>
            <a:r>
              <a:rPr lang="en-IN" sz="2400" b="1" dirty="0"/>
              <a:t>Weak Entities</a:t>
            </a:r>
            <a:r>
              <a:rPr lang="en-IN" sz="2400" dirty="0"/>
              <a:t> based on their ability to exist independently. 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dirty="0"/>
              <a:t>Understanding the difference between strong and weak entities helps in creating accurate and efficient database designs. 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dirty="0"/>
              <a:t>This presentation compares </a:t>
            </a:r>
            <a:r>
              <a:rPr lang="en-IN" sz="2400" b="1" dirty="0"/>
              <a:t>Strong and Weak Entities</a:t>
            </a:r>
            <a:r>
              <a:rPr lang="en-IN" sz="2400" dirty="0"/>
              <a:t> with their characteristics, differences, and real-world examples.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65365"/>
            <a:ext cx="11277599" cy="9062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22325" y="1480168"/>
            <a:ext cx="94983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lang="en-IN" sz="6600" baseline="8207" dirty="0"/>
              <a:t>CORE TECHNICAL EXPLANATION</a:t>
            </a:r>
            <a:endParaRPr sz="6600" baseline="8207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465365"/>
            <a:ext cx="11658599" cy="9062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3B1AFD-B0FF-4DA5-505A-8FC3233067AE}"/>
              </a:ext>
            </a:extLst>
          </p:cNvPr>
          <p:cNvSpPr txBox="1"/>
          <p:nvPr/>
        </p:nvSpPr>
        <p:spPr>
          <a:xfrm>
            <a:off x="457201" y="2284697"/>
            <a:ext cx="1127759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Strong Entity:</a:t>
            </a:r>
            <a:r>
              <a:rPr lang="en-IN" dirty="0"/>
              <a:t> A strong entity has its own </a:t>
            </a:r>
            <a:r>
              <a:rPr lang="en-IN" b="1" dirty="0"/>
              <a:t>primary key</a:t>
            </a:r>
            <a:r>
              <a:rPr lang="en-IN" dirty="0"/>
              <a:t> and can exist independently in a database.</a:t>
            </a:r>
            <a:br>
              <a:rPr lang="en-IN" dirty="0"/>
            </a:br>
            <a:r>
              <a:rPr lang="en-IN" i="1" dirty="0"/>
              <a:t>Example:</a:t>
            </a:r>
            <a:r>
              <a:rPr lang="en-IN" dirty="0"/>
              <a:t> </a:t>
            </a:r>
            <a:r>
              <a:rPr lang="en-IN" b="1" dirty="0"/>
              <a:t>Student (</a:t>
            </a:r>
            <a:r>
              <a:rPr lang="en-IN" b="1" dirty="0" err="1"/>
              <a:t>Student_ID</a:t>
            </a:r>
            <a:r>
              <a:rPr lang="en-IN" b="1" dirty="0"/>
              <a:t>, Name, Department)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Weak Entity:</a:t>
            </a:r>
            <a:r>
              <a:rPr lang="en-IN" dirty="0"/>
              <a:t> A weak entity does </a:t>
            </a:r>
            <a:r>
              <a:rPr lang="en-IN" b="1" dirty="0"/>
              <a:t>not</a:t>
            </a:r>
            <a:r>
              <a:rPr lang="en-IN" dirty="0"/>
              <a:t> have a primary key of its own and depends on a strong entity for identification.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It is identified using a </a:t>
            </a:r>
            <a:r>
              <a:rPr lang="en-IN" b="1" dirty="0"/>
              <a:t>partial key</a:t>
            </a:r>
            <a:r>
              <a:rPr lang="en-IN" dirty="0"/>
              <a:t> along with the primary key of the owner entity.</a:t>
            </a:r>
            <a:br>
              <a:rPr lang="en-IN" dirty="0"/>
            </a:br>
            <a:r>
              <a:rPr lang="en-IN" i="1" dirty="0"/>
              <a:t>Example:</a:t>
            </a:r>
            <a:r>
              <a:rPr lang="en-IN" dirty="0"/>
              <a:t> </a:t>
            </a:r>
            <a:r>
              <a:rPr lang="en-IN" b="1" dirty="0"/>
              <a:t>Dependent (</a:t>
            </a:r>
            <a:r>
              <a:rPr lang="en-IN" b="1" dirty="0" err="1"/>
              <a:t>Dependent_Name</a:t>
            </a:r>
            <a:r>
              <a:rPr lang="en-IN" b="1" dirty="0"/>
              <a:t>, Age)</a:t>
            </a:r>
            <a:r>
              <a:rPr lang="en-IN" dirty="0"/>
              <a:t> depends on </a:t>
            </a:r>
            <a:r>
              <a:rPr lang="en-IN" b="1" dirty="0"/>
              <a:t>Employee (</a:t>
            </a:r>
            <a:r>
              <a:rPr lang="en-IN" b="1" dirty="0" err="1"/>
              <a:t>Employee_ID</a:t>
            </a:r>
            <a:r>
              <a:rPr lang="en-IN" b="1" dirty="0"/>
              <a:t>)</a:t>
            </a:r>
            <a:r>
              <a:rPr lang="en-IN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Relationship:</a:t>
            </a:r>
            <a:r>
              <a:rPr lang="en-IN" dirty="0"/>
              <a:t> A weak entity is connected to its owner through an </a:t>
            </a:r>
            <a:r>
              <a:rPr lang="en-IN" b="1" dirty="0"/>
              <a:t>identifying relationship</a:t>
            </a:r>
            <a:r>
              <a:rPr lang="en-IN" dirty="0"/>
              <a:t>, which ensures the weak entity cannot exist without the strong entity.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ER Diagram Representation:</a:t>
            </a:r>
            <a:r>
              <a:rPr lang="en-IN" dirty="0"/>
              <a:t> Strong Entity → </a:t>
            </a:r>
            <a:r>
              <a:rPr lang="en-IN" b="1" dirty="0"/>
              <a:t>Single Rectangle</a:t>
            </a:r>
            <a:r>
              <a:rPr lang="en-IN" dirty="0"/>
              <a:t> </a:t>
            </a:r>
          </a:p>
          <a:p>
            <a:r>
              <a:rPr lang="en-IN" dirty="0"/>
              <a:t>               Weak Entity → </a:t>
            </a:r>
            <a:r>
              <a:rPr lang="en-IN" b="1" dirty="0"/>
              <a:t>Double Rectangle</a:t>
            </a:r>
            <a:r>
              <a:rPr lang="en-IN" dirty="0"/>
              <a:t> </a:t>
            </a:r>
          </a:p>
          <a:p>
            <a:r>
              <a:rPr lang="en-IN" dirty="0"/>
              <a:t>	Identifying Relationship → </a:t>
            </a:r>
            <a:r>
              <a:rPr lang="en-IN" b="1" dirty="0"/>
              <a:t>Double Diamond</a:t>
            </a:r>
            <a:r>
              <a:rPr lang="en-IN" dirty="0"/>
              <a:t> </a:t>
            </a:r>
          </a:p>
          <a:p>
            <a:r>
              <a:rPr lang="en-IN" dirty="0"/>
              <a:t>	Partial Key → </a:t>
            </a:r>
            <a:r>
              <a:rPr lang="en-IN" b="1" dirty="0"/>
              <a:t>Dashed Underline</a:t>
            </a:r>
            <a:r>
              <a:rPr lang="en-IN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Database Implementation:</a:t>
            </a:r>
            <a:r>
              <a:rPr lang="en-IN" dirty="0"/>
              <a:t> In relational databases, the </a:t>
            </a:r>
            <a:r>
              <a:rPr lang="en-IN" b="1" dirty="0"/>
              <a:t>primary key of the strong entity becomes a foreign key in the weak entity</a:t>
            </a:r>
            <a:r>
              <a:rPr lang="en-IN" dirty="0"/>
              <a:t>, and together with the partial key, it forms the </a:t>
            </a:r>
            <a:r>
              <a:rPr lang="en-IN" b="1" dirty="0"/>
              <a:t>composite primary key</a:t>
            </a:r>
            <a:r>
              <a:rPr lang="en-IN" dirty="0"/>
              <a:t> of the weak entity.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6314" y="1502369"/>
            <a:ext cx="82213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Benefits</a:t>
            </a:r>
            <a:r>
              <a:rPr spc="-70" dirty="0"/>
              <a:t> </a:t>
            </a:r>
            <a:r>
              <a:rPr dirty="0"/>
              <a:t>of</a:t>
            </a:r>
            <a:r>
              <a:rPr lang="en-IN" dirty="0"/>
              <a:t> Strong and weak entity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65365"/>
            <a:ext cx="10972799" cy="9062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8A00E0-07BA-0D78-C52D-2B1FDD151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438400"/>
            <a:ext cx="7621064" cy="34390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787040" y="1457985"/>
            <a:ext cx="68903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4400" dirty="0"/>
              <a:t>Real World Applications</a:t>
            </a:r>
            <a:endParaRPr sz="440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465365"/>
            <a:ext cx="10591799" cy="9062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0E4586-B7E7-7F8E-02DB-8ACA3625B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363" y="2514600"/>
            <a:ext cx="7697274" cy="33437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23490" y="1330226"/>
            <a:ext cx="695388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spc="-135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dirty="0"/>
              <a:t>Key</a:t>
            </a:r>
            <a:r>
              <a:rPr spc="-125" dirty="0"/>
              <a:t> </a:t>
            </a:r>
            <a:r>
              <a:rPr spc="-10" dirty="0"/>
              <a:t>Takeaways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381000"/>
            <a:ext cx="11388256" cy="906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1DC47A-D216-94BD-C7A7-B9463D956F85}"/>
              </a:ext>
            </a:extLst>
          </p:cNvPr>
          <p:cNvSpPr txBox="1"/>
          <p:nvPr/>
        </p:nvSpPr>
        <p:spPr>
          <a:xfrm>
            <a:off x="533400" y="2057400"/>
            <a:ext cx="11235856" cy="465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Strong entities</a:t>
            </a:r>
            <a:r>
              <a:rPr lang="en-IN" sz="2000" dirty="0"/>
              <a:t> have their own primary key and can exist independently, while </a:t>
            </a:r>
            <a:r>
              <a:rPr lang="en-IN" sz="2000" b="1" dirty="0"/>
              <a:t>weak entities</a:t>
            </a:r>
            <a:r>
              <a:rPr lang="en-IN" sz="2000" dirty="0"/>
              <a:t> depend on strong entities for identification and existence.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Strong entities represent the main objects in a database, whereas weak entities represent dependent or related objects.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Weak entities use a </a:t>
            </a:r>
            <a:r>
              <a:rPr lang="en-IN" sz="2000" b="1" dirty="0"/>
              <a:t>composite key</a:t>
            </a:r>
            <a:r>
              <a:rPr lang="en-IN" sz="2000" dirty="0"/>
              <a:t> formed by combining the owner's primary key with a partial key.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Using both strong and weak entities improves </a:t>
            </a:r>
            <a:r>
              <a:rPr lang="en-IN" sz="2000" b="1" dirty="0"/>
              <a:t>data integrity</a:t>
            </a:r>
            <a:r>
              <a:rPr lang="en-IN" sz="2000" dirty="0"/>
              <a:t>, reduces redundancy, and accurately models real-world relationships.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Choosing the appropriate entity type leads to a </a:t>
            </a:r>
            <a:r>
              <a:rPr lang="en-IN" sz="2000" b="1" dirty="0"/>
              <a:t>well-structured, efficient, and reliable database design</a:t>
            </a:r>
            <a:endParaRPr lang="en-I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96314" y="1330226"/>
            <a:ext cx="9877203" cy="867644"/>
          </a:xfrm>
          <a:prstGeom prst="rect">
            <a:avLst/>
          </a:prstGeom>
        </p:spPr>
        <p:txBody>
          <a:bodyPr vert="horz" wrap="square" lIns="0" tIns="249653" rIns="0" bIns="0" rtlCol="0">
            <a:spAutoFit/>
          </a:bodyPr>
          <a:lstStyle/>
          <a:p>
            <a:pPr marL="16414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Limitations</a:t>
            </a:r>
            <a:r>
              <a:rPr lang="en-IN" spc="-85" dirty="0"/>
              <a:t>                      </a:t>
            </a:r>
            <a:r>
              <a:rPr spc="-85" dirty="0"/>
              <a:t> </a:t>
            </a:r>
            <a:r>
              <a:rPr dirty="0"/>
              <a:t>Future</a:t>
            </a:r>
            <a:r>
              <a:rPr spc="-85" dirty="0"/>
              <a:t> </a:t>
            </a:r>
            <a:r>
              <a:rPr spc="-10" dirty="0"/>
              <a:t>Scope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465365"/>
            <a:ext cx="11125199" cy="9062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2DF641-606E-CAF0-36AA-909DE1BBB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609852"/>
            <a:ext cx="5943600" cy="34389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125A97-7A03-0F69-713A-EF41F1A0B7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667000"/>
            <a:ext cx="5791200" cy="3324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84315A-508F-1FD5-C6A7-A44DFC4B5E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066800"/>
            <a:ext cx="5448300" cy="4333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415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MT</vt:lpstr>
      <vt:lpstr>Times New Roman</vt:lpstr>
      <vt:lpstr>Office Theme</vt:lpstr>
      <vt:lpstr>PowerPoint Presentation</vt:lpstr>
      <vt:lpstr>Introduction</vt:lpstr>
      <vt:lpstr>CORE TECHNICAL EXPLANATION</vt:lpstr>
      <vt:lpstr>Benefits of Strong and weak entity</vt:lpstr>
      <vt:lpstr>Real World Applications</vt:lpstr>
      <vt:lpstr>Conclusion and Key Takeaways</vt:lpstr>
      <vt:lpstr>Limitations                      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Hemanth R</cp:lastModifiedBy>
  <cp:revision>3</cp:revision>
  <dcterms:created xsi:type="dcterms:W3CDTF">2026-07-16T06:15:50Z</dcterms:created>
  <dcterms:modified xsi:type="dcterms:W3CDTF">2026-07-16T13:10:57Z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2026-07-16T00:00:00Z</vt:filetime>
  </property>
  <property fmtid="{D5CDD505-2E9C-101B-9397-08002B2CF9AE}" pid="4" name="Creator">
    <vt:lpwstr>Google</vt:lpwstr>
  </property>
  <property fmtid="{D5CDD505-2E9C-101B-9397-08002B2CF9AE}" pid="5" name="LastSaved">
    <vt:filetime>2026-07-16T00:00:00Z</vt:filetime>
  </property>
</Properties>
</file>